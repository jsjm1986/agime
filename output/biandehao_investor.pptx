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</a:rPr>
              <a:t>编得好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A623"/>
                </a:solidFill>
              </a:rPr>
              <a:t>AI-Native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29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全国出版编校智能协作网络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45720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51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CC"/>
                </a:solidFill>
              </a:rPr>
              <a:t>重塑出版生产关系  · 引领数智协同跃迁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投资人路演材料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1828800"/>
            <a:ext cx="2286000" cy="3200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22860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5A623"/>
                </a:solidFill>
              </a:rPr>
              <a:t>AI
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4008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628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行业现状与痛点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11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出版编校行业的三大核心挑战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486400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64008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459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628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解决方案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011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AI三大Agent重构生产关系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5486400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64008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9184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628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154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核心功能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657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四大智能引擎全景解析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017520"/>
            <a:ext cx="5486400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017520"/>
            <a:ext cx="64008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29184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628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154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技术架构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657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1+3+N多模型智能体系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63440"/>
            <a:ext cx="5486400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663440"/>
            <a:ext cx="64008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9377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628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800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实施路线图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303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12个月三阶段落地计划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663440"/>
            <a:ext cx="5486400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663440"/>
            <a:ext cx="64008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9377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628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800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商业模式与效益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303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多元盈利 · 亿级估值目标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行业现状：三大核心痛点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INDUSTRY PAIN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5120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65760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资源错配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供需信息不对称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310896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全国编校资源分布极不均衡
传统平台靠人工搜索，效率低下
优质稿件与顶尖编辑难以精准匹配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97680"/>
            <a:ext cx="3291840" cy="16459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</a:rPr>
              <a:t>10x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12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C"/>
                </a:solidFill>
              </a:rPr>
              <a:t>撮合效率提升空间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657600" cy="5120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280160"/>
            <a:ext cx="365760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流程低效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传统接单方式落后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286000"/>
            <a:ext cx="310896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4231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依赖QQ/微信发包，缺乏工具支撑
合同、发票、个税手动处理
沟通成本高，周期长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297680"/>
            <a:ext cx="3291840" cy="16459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389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</a:rPr>
              <a:t>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212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C"/>
                </a:solidFill>
              </a:rPr>
              <a:t>出版周期可压缩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280160"/>
            <a:ext cx="3657600" cy="5120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280160"/>
            <a:ext cx="365760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信任缺失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C"/>
                </a:solidFill>
              </a:rPr>
              <a:t>质量评价体系空白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286000"/>
            <a:ext cx="310896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24231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评价主观性强，难以服众
无统一信用档案，良莠不齐
结算纠纷频发，市场秩序混乱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4297680"/>
            <a:ext cx="3291840" cy="16459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4389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</a:rPr>
              <a:t>0.01‱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212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C"/>
                </a:solidFill>
              </a:rPr>
              <a:t>AI审计后差错率目标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我们的答案：AI三大Agent重构生产关系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C"/>
                </a:solidFill>
              </a:rPr>
              <a:t>不是修补传统模式，而是一次「AI原生」的基因重组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566160" cy="457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356616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发布侧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71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出版社的
「项目指挥官」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49040"/>
            <a:ext cx="301752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862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C"/>
                </a:solidFill>
              </a:rPr>
              <a:t>理解需求 · 拆解任务
预算风控 · 智能发包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737360"/>
            <a:ext cx="3566160" cy="457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737360"/>
            <a:ext cx="3566160" cy="54864"/>
          </a:xfrm>
          <a:prstGeom prst="rect">
            <a:avLst/>
          </a:prstGeom>
          <a:solidFill>
            <a:srgbClr val="3A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920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AB5E5"/>
                </a:solidFill>
              </a:rPr>
              <a:t>生产侧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971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编校者的
「超级副驾驶」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749040"/>
            <a:ext cx="301752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8862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C"/>
                </a:solidFill>
              </a:rPr>
              <a:t>实时纠错 · 知识查证
逻辑体检 · 极速提效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737360"/>
            <a:ext cx="3566160" cy="457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737360"/>
            <a:ext cx="35661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920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</a:rPr>
              <a:t>管理侧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971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平台的
「公正审计员」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3749040"/>
            <a:ext cx="301752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8862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C"/>
                </a:solidFill>
              </a:rPr>
              <a:t>撮合调度 · 质量验收
信用仲裁 · 价值分配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A623"/>
                </a:solidFill>
              </a:rPr>
              <a:t>三大Agent协同 · 构建「懂业务、降门槛、重实效」的智能生产力枢纽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核心功能①：精准撮合 + 智能工作台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CORE FEATURES — MATCHING &amp; WORKBENCH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5120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语义共鸣撮合引擎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C"/>
                </a:solidFill>
              </a:rPr>
              <a:t>Semantic Resonance Matching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54864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从「搜人」到「算人」：深度语义分析稿件学科基因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20439"/>
            <a:ext cx="54864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39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跨域冷启动推荐：打破学科壁垒，挖掘跨界人才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09160"/>
            <a:ext cx="54864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动态档期调度：实时监控全网编辑负荷，优先推荐空闲专家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577840"/>
            <a:ext cx="5120640" cy="640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623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撮合效率提升  10x  · 等待周期大幅压缩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280160"/>
            <a:ext cx="5486400" cy="54864"/>
          </a:xfrm>
          <a:prstGeom prst="rect">
            <a:avLst/>
          </a:prstGeom>
          <a:solidFill>
            <a:srgbClr val="3A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AB5E5"/>
                </a:solidFill>
              </a:rPr>
              <a:t>云端AI协同工作台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87451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C"/>
                </a:solidFill>
              </a:rPr>
              <a:t>Cloud AI Collaborative Workbench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331720"/>
            <a:ext cx="54864" cy="640080"/>
          </a:xfrm>
          <a:prstGeom prst="rect">
            <a:avLst/>
          </a:prstGeom>
          <a:solidFill>
            <a:srgbClr val="3A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331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Zero-Install：浏览器即用，完美解析Word/PDF/LaTeX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200400"/>
            <a:ext cx="54864" cy="640080"/>
          </a:xfrm>
          <a:prstGeom prst="rect">
            <a:avLst/>
          </a:prstGeom>
          <a:solidFill>
            <a:srgbClr val="3A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200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AI逻辑体检：发现前后矛盾、数据错误等隐蔽硬伤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069079"/>
            <a:ext cx="54864" cy="640080"/>
          </a:xfrm>
          <a:prstGeom prst="rect">
            <a:avLst/>
          </a:prstGeom>
          <a:solidFill>
            <a:srgbClr val="3A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069079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ChatDOC问答：跨章节检索，带引用回答一致性问题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4937759"/>
            <a:ext cx="54864" cy="640080"/>
          </a:xfrm>
          <a:prstGeom prst="rect">
            <a:avLst/>
          </a:prstGeom>
          <a:solidFill>
            <a:srgbClr val="3A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937759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合规增强：实时核对史实，自动扫描敏感词库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577840"/>
            <a:ext cx="5120640" cy="640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5623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AB5E5"/>
                </a:solidFill>
              </a:rPr>
              <a:t>AI承担90%基础工作  · 出版周期缩短30-50%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核心功能②：数字信用 + AI赋能学院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CORE FEATURES — CREDIT &amp; ACADEMY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5120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71"/>
                </a:solidFill>
              </a:rPr>
              <a:t>数字信用审计网络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C"/>
                </a:solidFill>
              </a:rPr>
              <a:t>Digital Credit Audit Network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54864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全样本数据审计：AI记录每一次修改，生成《质量透视报告》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20439"/>
            <a:ext cx="54864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39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价值导向结算：「基础费+质量绩效」动态模型，良币获高回报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09160"/>
            <a:ext cx="54864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可信职业画像：加密存储，终身职业征信档案，数字通行证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577840"/>
            <a:ext cx="5120640" cy="640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623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差错率降至万分之一以下  · 信任成本归零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280160"/>
            <a:ext cx="5486400" cy="5120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280160"/>
            <a:ext cx="54864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</a:rPr>
              <a:t>AI赋能学院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87451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C"/>
                </a:solidFill>
              </a:rPr>
              <a:t>AI Empowerment Academy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331720"/>
            <a:ext cx="54864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3317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新手导航模式：AI导师分步提示，边干边学出版规范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520439"/>
            <a:ext cx="54864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520439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人机耦合实训：脱敏真实稿件演练，AI评分纠偏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709160"/>
            <a:ext cx="54864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7091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降低门槛：赋能高校学生、退休教师快速上岗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5577840"/>
            <a:ext cx="5120640" cy="640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623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人才成才周期缩短40%  · 创造全新灵活用工机会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技术架构：1+3+N 多模型智能体系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TECHNOLOGY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7760" y="2560320"/>
            <a:ext cx="2286000" cy="1645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26517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1628"/>
                </a:solidFill>
              </a:rPr>
              <a:t>编得好
智能中枢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4389120" cy="1280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73152" cy="1280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应用层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发布Agent · 生产Agent · 管理Agent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26080"/>
            <a:ext cx="4389120" cy="1280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926080"/>
            <a:ext cx="73152" cy="1280160"/>
          </a:xfrm>
          <a:prstGeom prst="rect">
            <a:avLst/>
          </a:prstGeom>
          <a:solidFill>
            <a:srgbClr val="3A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AB5E5"/>
                </a:solidFill>
              </a:rPr>
              <a:t>服务层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204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撮合引擎 · 工作台 · 信用网络 · 学院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80560"/>
            <a:ext cx="4389120" cy="1280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480560"/>
            <a:ext cx="73152" cy="1280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基础层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多模型路由 · 向量数据库 · 安全合规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1371600"/>
            <a:ext cx="4297680" cy="5029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5087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多模型路由策略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103120"/>
            <a:ext cx="384048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GPT-4o / Claude 3.5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514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复杂逻辑推理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3108960"/>
            <a:ext cx="384048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DeepSeek-V3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中文语义理解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4114800"/>
            <a:ext cx="384048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Qwen-Max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4526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出版领域微调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5120640"/>
            <a:ext cx="384048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5166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本地私有模型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5532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敏感数据隔离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0350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C"/>
                </a:solidFill>
              </a:rPr>
              <a:t>按任务类型智能路由 · 成本最优 · 效果最佳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实施路线图：12个月三阶段落地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IMPLEMENTATION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53035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6576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M1–M4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C"/>
                </a:solidFill>
              </a:rPr>
              <a:t>基础建设期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14600"/>
            <a:ext cx="32004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697480"/>
            <a:ext cx="73152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核心团队组建（技术+产品+运营）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66160"/>
            <a:ext cx="73152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66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MVP开发：撮合引擎+基础工作台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34840"/>
            <a:ext cx="73152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348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种子用户招募：10家出版社试点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03519"/>
            <a:ext cx="73152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30351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完成天使轮融资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035040"/>
            <a:ext cx="3383280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053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天使轮 · MVP上线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280160"/>
            <a:ext cx="3657600" cy="53035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1280160"/>
            <a:ext cx="3657600" cy="54864"/>
          </a:xfrm>
          <a:prstGeom prst="rect">
            <a:avLst/>
          </a:prstGeom>
          <a:solidFill>
            <a:srgbClr val="3A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B5E5"/>
                </a:solidFill>
              </a:rPr>
              <a:t>Phase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M5–M8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C"/>
                </a:solidFill>
              </a:rPr>
              <a:t>产品打磨期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514600"/>
            <a:ext cx="32004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2697480"/>
            <a:ext cx="73152" cy="548640"/>
          </a:xfrm>
          <a:prstGeom prst="rect">
            <a:avLst/>
          </a:prstGeom>
          <a:solidFill>
            <a:srgbClr val="3A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26974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AI信用审计网络上线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3566160"/>
            <a:ext cx="73152" cy="548640"/>
          </a:xfrm>
          <a:prstGeom prst="rect">
            <a:avLst/>
          </a:prstGeom>
          <a:solidFill>
            <a:srgbClr val="3A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3566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工作台全功能发布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34840" y="4434840"/>
            <a:ext cx="73152" cy="548640"/>
          </a:xfrm>
          <a:prstGeom prst="rect">
            <a:avLst/>
          </a:prstGeom>
          <a:solidFill>
            <a:srgbClr val="3A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4348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用户规模：100家出版社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5303519"/>
            <a:ext cx="73152" cy="548640"/>
          </a:xfrm>
          <a:prstGeom prst="rect">
            <a:avLst/>
          </a:prstGeom>
          <a:solidFill>
            <a:srgbClr val="3A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530351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完成Pre-A轮融资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6035040"/>
            <a:ext cx="3383280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6053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AB5E5"/>
                </a:solidFill>
              </a:rPr>
              <a:t>Pre-A轮 · 百家客户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1280160"/>
            <a:ext cx="3657600" cy="53035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1280160"/>
            <a:ext cx="36576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Phase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M9–M12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C"/>
                </a:solidFill>
              </a:rPr>
              <a:t>规模扩张期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60" y="2514600"/>
            <a:ext cx="32004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66760" y="2697480"/>
            <a:ext cx="73152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40" y="26974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AI赋能学院正式上线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66760" y="3566160"/>
            <a:ext cx="73152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9640" y="3566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商业化全面铺开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66760" y="4434840"/>
            <a:ext cx="73152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49640" y="44348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用户规模：500+出版社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66760" y="5303519"/>
            <a:ext cx="73152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9640" y="530351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启动A轮融资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6035040"/>
            <a:ext cx="3383280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6760" y="6053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A轮 · 规模盈利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市场规模与商业模式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MARKET SIZE &amp; BUSINESS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43200" cy="2011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7432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</a:rPr>
              <a:t>¥580亿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C"/>
                </a:solidFill>
              </a:rPr>
              <a:t>中国出版业年产值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2743200" cy="2011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280160"/>
            <a:ext cx="2743200" cy="54864"/>
          </a:xfrm>
          <a:prstGeom prst="rect">
            <a:avLst/>
          </a:prstGeom>
          <a:solidFill>
            <a:srgbClr val="3A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463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AB5E5"/>
                </a:solidFill>
              </a:rPr>
              <a:t>10万+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C"/>
                </a:solidFill>
              </a:rPr>
              <a:t>专业编校从业者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2743200" cy="2011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743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463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CC71"/>
                </a:solidFill>
              </a:rPr>
              <a:t>580家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C"/>
                </a:solidFill>
              </a:rPr>
              <a:t>国家批准出版社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280160"/>
            <a:ext cx="2743200" cy="2011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280160"/>
            <a:ext cx="2743200" cy="54864"/>
          </a:xfrm>
          <a:prstGeom prst="rect">
            <a:avLst/>
          </a:prstGeom>
          <a:solidFill>
            <a:srgbClr val="E5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463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56A3A"/>
                </a:solidFill>
              </a:rPr>
              <a:t>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C"/>
                </a:solidFill>
              </a:rPr>
              <a:t>年均数字化增速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520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四大收入来源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23360"/>
            <a:ext cx="5486400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023360"/>
            <a:ext cx="73152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SaaS订阅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26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出版社年费制，按规模分级定价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2062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¥2-20万/年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023360"/>
            <a:ext cx="5486400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023360"/>
            <a:ext cx="73152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交易佣金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526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编校任务撮合，抽取8-15%服务费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42062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按量计费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303520"/>
            <a:ext cx="5486400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5303520"/>
            <a:ext cx="73152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增值服务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806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AI深度审校、合规检测、数据报告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4864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¥500-5000/次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5303520"/>
            <a:ext cx="5486400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5303520"/>
            <a:ext cx="73152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学院培训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806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C"/>
                </a:solidFill>
              </a:rPr>
              <a:t>在线课程、认证考试、企业内训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54864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¥299-9999/人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预期效益：三年财务展望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EXPECTED BENEFITS — 3-YEAR PROJECTION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43200" cy="2194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7432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Year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¥300万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C"/>
                </a:solidFill>
              </a:rPr>
              <a:t>ARR目标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280160"/>
            <a:ext cx="2743200" cy="2194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280160"/>
            <a:ext cx="2743200" cy="54864"/>
          </a:xfrm>
          <a:prstGeom prst="rect">
            <a:avLst/>
          </a:prstGeom>
          <a:solidFill>
            <a:srgbClr val="3A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AB5E5"/>
                </a:solidFill>
              </a:rPr>
              <a:t>Year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8288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¥2,000万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C"/>
                </a:solidFill>
              </a:rPr>
              <a:t>ARR目标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2743200" cy="2194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280160"/>
            <a:ext cx="2743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Year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288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¥8,000万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C"/>
                </a:solidFill>
              </a:rPr>
              <a:t>ARR目标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280160"/>
            <a:ext cx="2743200" cy="2194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280160"/>
            <a:ext cx="2743200" cy="54864"/>
          </a:xfrm>
          <a:prstGeom prst="rect">
            <a:avLst/>
          </a:prstGeom>
          <a:solidFill>
            <a:srgbClr val="E5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56A3A"/>
                </a:solidFill>
              </a:rPr>
              <a:t>ROI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8288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3-5×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C"/>
                </a:solidFill>
              </a:rPr>
              <a:t>投资回报预期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703320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平台核心价值指标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51960"/>
            <a:ext cx="3749039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251960"/>
            <a:ext cx="73152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343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出版周期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54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缩短 30–50%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4251960"/>
            <a:ext cx="3749039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4251960"/>
            <a:ext cx="73152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343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差错率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754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降至万分之一以下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4251960"/>
            <a:ext cx="3749039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12480" y="4251960"/>
            <a:ext cx="73152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4343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编校成本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754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降低 40–60%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440680"/>
            <a:ext cx="3749039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5440680"/>
            <a:ext cx="73152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532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人才培养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943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周期缩短 40%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5440680"/>
            <a:ext cx="3749039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89120" y="5440680"/>
            <a:ext cx="73152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5532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客户满意度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5943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NPS &gt; 60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0" y="5440680"/>
            <a:ext cx="3749039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12480" y="5440680"/>
            <a:ext cx="73152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0" y="5532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市场渗透率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5943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3年达10%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核心团队与竞争优势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TEAM &amp; COMPETITIVE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943600" cy="53035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核心团队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30352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914400" cy="7772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CEO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5740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出版行业15年经验，前某大型出版集团副总编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914400" cy="7772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5467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0896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AI/NLP专家，前大厂算法负责人，10年技术积累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914400" cy="7772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CPO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16052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SaaS产品专家，曾主导3款百万级用户产品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66360"/>
            <a:ext cx="914400" cy="7772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257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COO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212079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出版运营专家，深度行业资源网络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280160"/>
            <a:ext cx="5486400" cy="53035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417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核心竞争壁垒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874519"/>
            <a:ext cx="50292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2011680"/>
            <a:ext cx="73152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行业数据壁垒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3957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积累出版领域专有语料与知识图谱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063240"/>
            <a:ext cx="73152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063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信用网络效应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44728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越多用户参与，信用体系越精准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4114800"/>
            <a:ext cx="73152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生态锁定效应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988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工作台+学院+撮合形成完整闭环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5166360"/>
            <a:ext cx="73152" cy="777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5166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先发优势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5504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率先切入细分赛道，建立品牌认知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现在，加入我们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5A623"/>
                </a:solidFill>
              </a:rPr>
              <a:t>共同重塑中国出版业的未来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017520"/>
            <a:ext cx="487375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3383280"/>
            <a:ext cx="4389120" cy="1005840"/>
          </a:xfrm>
          <a:prstGeom prst="rect">
            <a:avLst/>
          </a:prstGeom>
          <a:solidFill>
            <a:srgbClr val="0F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3383280"/>
            <a:ext cx="54864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4747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融资需求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8862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天使轮  ¥500万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383280"/>
            <a:ext cx="4389120" cy="1005840"/>
          </a:xfrm>
          <a:prstGeom prst="rect">
            <a:avLst/>
          </a:prstGeom>
          <a:solidFill>
            <a:srgbClr val="0F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383280"/>
            <a:ext cx="54864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747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资金用途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8862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技术研发60% · 市场推广25% · 运营15%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572000"/>
            <a:ext cx="4389120" cy="1005840"/>
          </a:xfrm>
          <a:prstGeom prst="rect">
            <a:avLst/>
          </a:prstGeom>
          <a:solidFill>
            <a:srgbClr val="0F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4572000"/>
            <a:ext cx="54864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663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股权出让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749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572000"/>
            <a:ext cx="4389120" cy="1005840"/>
          </a:xfrm>
          <a:prstGeom prst="rect">
            <a:avLst/>
          </a:prstGeom>
          <a:solidFill>
            <a:srgbClr val="0F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572000"/>
            <a:ext cx="54864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663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C"/>
                </a:solidFill>
              </a:rPr>
              <a:t>投后估值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0749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¥3,333万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0BECC"/>
                </a:solidFill>
              </a:rPr>
              <a:t>编得好  ·  让每一本书都值得被认真对待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