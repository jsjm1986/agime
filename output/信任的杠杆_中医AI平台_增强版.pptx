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14800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31999"/>
            <a:ext cx="9144000" cy="28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792000"/>
            <a:ext cx="79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C9A84C"/>
                </a:solidFill>
              </a:rPr>
              <a:t>信任的杠杆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79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中医AI诊疗电商服务平台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2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CCCCC"/>
                </a:solidFill>
              </a:rPr>
              <a:t>以AI重构中医信任链，让大师智慧触达千万家庭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2951999"/>
            <a:ext cx="7703999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3096000"/>
            <a:ext cx="2015999" cy="900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3186000"/>
            <a:ext cx="201599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</a:rPr>
              <a:t>3200亿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3654000"/>
            <a:ext cx="201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食药同源市场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56000" y="3096000"/>
            <a:ext cx="2015999" cy="900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56000" y="3186000"/>
            <a:ext cx="201599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CC71"/>
                </a:solidFill>
              </a:rPr>
              <a:t>24.5%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6000" y="3654000"/>
            <a:ext cx="201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年复合增长率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2000" y="3096000"/>
            <a:ext cx="2015999" cy="900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2000" y="3186000"/>
            <a:ext cx="201599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</a:rPr>
              <a:t>10个月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2000" y="3654000"/>
            <a:ext cx="201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预计回本周期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7999" y="3096000"/>
            <a:ext cx="2015999" cy="900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7999" y="3186000"/>
            <a:ext cx="201599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39C12"/>
                </a:solidFill>
              </a:rPr>
              <a:t>Pre-A轮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7999" y="3654000"/>
            <a:ext cx="201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融资需求·500万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450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B2B2C模式重构大健康产业  ·  商业计划书  ·  2026年1月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14800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44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</a:rPr>
              <a:t>目  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576000"/>
            <a:ext cx="846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756000"/>
            <a:ext cx="270000" cy="27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774000"/>
            <a:ext cx="27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756000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执行摘要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972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核心价值与关键指标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458000"/>
            <a:ext cx="270000" cy="27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1475999"/>
            <a:ext cx="27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1458000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行业痛点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1673999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B2C模式三大困境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160000"/>
            <a:ext cx="270000" cy="27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000" y="2178000"/>
            <a:ext cx="27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2160000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解决方案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2376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中医大师的Shopify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2861999"/>
            <a:ext cx="270000" cy="27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000" y="2879999"/>
            <a:ext cx="27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" y="2861999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三步走战略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" y="3077999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效率→依赖→变现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564000"/>
            <a:ext cx="270000" cy="27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000" y="3582000"/>
            <a:ext cx="27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000" y="3564000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核心优势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000" y="3780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零CAC + 高LTV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4266000"/>
            <a:ext cx="270000" cy="27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000" y="4284000"/>
            <a:ext cx="27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000" y="4266000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市场机遇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000" y="4482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3200亿黄金赛道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2000" y="756000"/>
            <a:ext cx="270000" cy="27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2000" y="774000"/>
            <a:ext cx="27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12000" y="756000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竞品分析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12000" y="972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差异化竞争定位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2000" y="1458000"/>
            <a:ext cx="270000" cy="27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2000" y="1475999"/>
            <a:ext cx="27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2000" y="1458000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商业飞轮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12000" y="1673999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信任驱动LTV闭环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2000" y="2160000"/>
            <a:ext cx="270000" cy="27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2000" y="2178000"/>
            <a:ext cx="27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12000" y="2160000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财务模型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12000" y="2376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可预测单元经济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2000" y="2861999"/>
            <a:ext cx="270000" cy="27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2000" y="2879999"/>
            <a:ext cx="27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12000" y="2861999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护城河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12000" y="3077999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三重壁垒构建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2000" y="3564000"/>
            <a:ext cx="270000" cy="27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2000" y="3582000"/>
            <a:ext cx="27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12000" y="3564000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风险评估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12000" y="3780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六维风险管控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2000" y="4266000"/>
            <a:ext cx="270000" cy="27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2000" y="4284000"/>
            <a:ext cx="27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12000" y="4266000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执行计划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12000" y="4482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12个月里程碑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14800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1999" y="360000"/>
            <a:ext cx="43200" cy="432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8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3C3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执行摘要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000" y="612000"/>
            <a:ext cx="846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720000"/>
            <a:ext cx="82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我们是中医大师的"Shopify"平台，通过B2B2C模式，将医生的"信任资产"转化为可规模化的商业价值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1044000"/>
            <a:ext cx="82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「我们不卖流量，我们卖信任」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" y="1368000"/>
            <a:ext cx="2015999" cy="936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000" y="1458000"/>
            <a:ext cx="201599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</a:rPr>
              <a:t>3200亿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1925999"/>
            <a:ext cx="201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食药同源市场规模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56000" y="1368000"/>
            <a:ext cx="2015999" cy="936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56000" y="1458000"/>
            <a:ext cx="201599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CC71"/>
                </a:solidFill>
              </a:rPr>
              <a:t>24.5%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6000" y="1925999"/>
            <a:ext cx="201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中草药年复合增长率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16000" y="1368000"/>
            <a:ext cx="2015999" cy="936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6000" y="1458000"/>
            <a:ext cx="201599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</a:rPr>
              <a:t>82%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6000" y="1925999"/>
            <a:ext cx="201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愿为信任付溢价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000" y="1368000"/>
            <a:ext cx="2015999" cy="936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76000" y="1458000"/>
            <a:ext cx="201599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CC71"/>
                </a:solidFill>
              </a:rPr>
              <a:t>10个月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000" y="1925999"/>
            <a:ext cx="201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预计投资回本周期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000" y="2412000"/>
            <a:ext cx="846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6000" y="2520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商业模式亮点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0000" y="2520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目标规模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000" y="2808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✦ B2B2C信任赋能模式，零边际获客成本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000" y="3204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✦ AI诊室+私域CRM+线上商城三位一体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000" y="3600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✦ 精标药房供应链，出口级品质保障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000" y="3996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✦ 医嘱驱动高转化，预估转化率65%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000" y="4392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✦ 双重护城河：资源壁垒+技术壁垒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0000" y="2808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✦ 首年：签约20名顶尖中医师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0000" y="3204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✦ 三年：覆盖200名医生，20,000名患者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0000" y="3600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✦ 盈亏平衡：50名医生时达成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0000" y="3996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✦ 三年营收目标：1800万元/年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0000" y="4392000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✦ 启动A轮融资，估值目标5000万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14800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1999" y="360000"/>
            <a:ext cx="43200" cy="432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8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3C34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行业痛点分析：B2C模式的三大困境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000" y="612000"/>
            <a:ext cx="846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720000"/>
            <a:ext cx="82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传统中医健康平台面临结构性困境，市场存在巨大的"信任赤字"亟待填补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000" y="1080000"/>
            <a:ext cx="2628000" cy="3420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" y="1152000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🔴  流量成本黑洞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000" y="1458000"/>
            <a:ext cx="2448000" cy="29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CC"/>
                </a:solidFill>
              </a:rPr>
              <a:t>传统B2C平台获客成本高达营收7.4%</a:t>
            </a:r>
          </a:p>
          <a:p>
            <a:r>
              <a:rPr sz="1100">
                <a:solidFill>
                  <a:srgbClr val="CCCCCC"/>
                </a:solidFill>
              </a:rPr>
              <a:t>流量属于平台，医生无法沉淀用户资产</a:t>
            </a:r>
          </a:p>
          <a:p>
            <a:r>
              <a:rPr sz="1100">
                <a:solidFill>
                  <a:srgbClr val="CCCCCC"/>
                </a:solidFill>
              </a:rPr>
              <a:t>复购率不足30%，用户忠诚度极低</a:t>
            </a:r>
          </a:p>
          <a:p>
            <a:r>
              <a:rPr sz="1100">
                <a:solidFill>
                  <a:srgbClr val="CCCCCC"/>
                </a:solidFill>
              </a:rPr>
              <a:t>每获取一名新患者成本：¥200-500</a:t>
            </a:r>
          </a:p>
          <a:p>
            <a:r>
              <a:rPr sz="1100">
                <a:solidFill>
                  <a:srgbClr val="CCCCCC"/>
                </a:solidFill>
              </a:rPr>
              <a:t>平台抽佣+广告费吞噬80%利润空间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8000" y="1080000"/>
            <a:ext cx="2628000" cy="3420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8000" y="1152000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</a:rPr>
              <a:t>🟡  信任赤字危机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8000" y="1458000"/>
            <a:ext cx="2448000" cy="29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CC"/>
                </a:solidFill>
              </a:rPr>
              <a:t>市场存在数十亿级"信任赤字"缺口</a:t>
            </a:r>
          </a:p>
          <a:p>
            <a:r>
              <a:rPr sz="1100">
                <a:solidFill>
                  <a:srgbClr val="CCCCCC"/>
                </a:solidFill>
              </a:rPr>
              <a:t>82%消费者愿为信任付20-30%溢价</a:t>
            </a:r>
          </a:p>
          <a:p>
            <a:r>
              <a:rPr sz="1100">
                <a:solidFill>
                  <a:srgbClr val="CCCCCC"/>
                </a:solidFill>
              </a:rPr>
              <a:t>但现有平台只会打价格战，无法承接</a:t>
            </a:r>
          </a:p>
          <a:p>
            <a:r>
              <a:rPr sz="1100">
                <a:solidFill>
                  <a:srgbClr val="CCCCCC"/>
                </a:solidFill>
              </a:rPr>
              <a:t>假冒伪劣药材事件频发，信任崩塌</a:t>
            </a:r>
          </a:p>
          <a:p>
            <a:r>
              <a:rPr sz="1100">
                <a:solidFill>
                  <a:srgbClr val="CCCCCC"/>
                </a:solidFill>
              </a:rPr>
              <a:t>消费者迫切需要"可信赖的医生背书"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0000" y="1080000"/>
            <a:ext cx="2628000" cy="3420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000" y="1152000"/>
            <a:ext cx="2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🟢  医生IP被稀释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000" y="1458000"/>
            <a:ext cx="2448000" cy="29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CC"/>
                </a:solidFill>
              </a:rPr>
              <a:t>顶尖中医日均接诊上限仅20人</a:t>
            </a:r>
          </a:p>
          <a:p>
            <a:r>
              <a:rPr sz="1100">
                <a:solidFill>
                  <a:srgbClr val="CCCCCC"/>
                </a:solidFill>
              </a:rPr>
              <a:t>90%潜在价值被低效线下模式禁锢</a:t>
            </a:r>
          </a:p>
          <a:p>
            <a:r>
              <a:rPr sz="1100">
                <a:solidFill>
                  <a:srgbClr val="CCCCCC"/>
                </a:solidFill>
              </a:rPr>
              <a:t>面临"三流药材"绑架的风险</a:t>
            </a:r>
          </a:p>
          <a:p>
            <a:r>
              <a:rPr sz="1100">
                <a:solidFill>
                  <a:srgbClr val="CCCCCC"/>
                </a:solidFill>
              </a:rPr>
              <a:t>医生无法建立个人品牌和数字资产</a:t>
            </a:r>
          </a:p>
          <a:p>
            <a:r>
              <a:rPr sz="1100">
                <a:solidFill>
                  <a:srgbClr val="CCCCCC"/>
                </a:solidFill>
              </a:rPr>
              <a:t>核心资产"信任"无法规模化变现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14800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1999" y="360000"/>
            <a:ext cx="43200" cy="432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8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3C34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解决方案：中医大师的数字化操作系统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000" y="612000"/>
            <a:ext cx="846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720000"/>
            <a:ext cx="82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我们不是又一个医疗电商平台——我们是赋能中医大师的"Shopify"，让信任成为可交易的商业资产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000" y="1080000"/>
            <a:ext cx="2736000" cy="3060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000" y="1152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</a:rPr>
              <a:t>🏥 AI 诊  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000" y="1512000"/>
            <a:ext cx="252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000" y="1620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语音转文字，自动生成结构化病历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000" y="2015999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智能辨证分析，处方推荐参考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000" y="2412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节省50%问诊时间，相当于多接诊10人/天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000" y="2808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医案自动归档，持续训练专属AI模型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1999" y="1080000"/>
            <a:ext cx="2736000" cy="3060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0000" y="1152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📱 私域 CRM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0000" y="1512000"/>
            <a:ext cx="252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0000" y="1620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患者健康档案数字化管理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0000" y="2015999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智能随访提醒，提升复诊率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0000" y="2412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健康数据追踪，个性化调理方案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0000" y="2808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私域流量沉淀，患者资产归医生所有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8000" y="1080000"/>
            <a:ext cx="2736000" cy="3060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000" y="1152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🛒 信任商城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36000" y="1512000"/>
            <a:ext cx="252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000" y="1620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医嘱一键直连购买，转化率预估65%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000" y="2015999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精标药房供应链，出口级质检标准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000" y="2412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全程溯源码体系，药材来源透明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000" y="2808000"/>
            <a:ext cx="2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医生品牌背书，溢价空间20-30%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6000" y="4248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竞品对比：我们 vs 平安好医生 vs 京东健康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6000" y="4500000"/>
            <a:ext cx="19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84C"/>
                </a:solidFill>
              </a:rPr>
              <a:t>获客成本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6000" y="4716000"/>
            <a:ext cx="19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ECC71"/>
                </a:solidFill>
              </a:rPr>
              <a:t>零边际CAC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6000" y="4896000"/>
            <a:ext cx="19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高（广告驱动）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56000" y="4500000"/>
            <a:ext cx="19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84C"/>
                </a:solidFill>
              </a:rPr>
              <a:t>信任背书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56000" y="4716000"/>
            <a:ext cx="19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ECC71"/>
                </a:solidFill>
              </a:rPr>
              <a:t>名医个人品牌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56000" y="4896000"/>
            <a:ext cx="19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平台品牌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16000" y="4500000"/>
            <a:ext cx="19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84C"/>
                </a:solidFill>
              </a:rPr>
              <a:t>医生绑定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16000" y="4716000"/>
            <a:ext cx="19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ECC71"/>
                </a:solidFill>
              </a:rPr>
              <a:t>AI深度绑定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16000" y="4896000"/>
            <a:ext cx="19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松散合作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6000" y="4500000"/>
            <a:ext cx="19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84C"/>
                </a:solidFill>
              </a:rPr>
              <a:t>供应链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000" y="4716000"/>
            <a:ext cx="19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ECC71"/>
                </a:solidFill>
              </a:rPr>
              <a:t>精标药房溯源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000" y="4896000"/>
            <a:ext cx="19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</a:rPr>
              <a:t>标准化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14800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1999" y="360000"/>
            <a:ext cx="43200" cy="432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8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3C34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三步走战略：从效率工具到信任变现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000" y="612000"/>
            <a:ext cx="846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720000"/>
            <a:ext cx="82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通过三阶段渐进式策略，将医生从"工具用户"转化为"平台共生体"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000" y="1044000"/>
            <a:ext cx="2736000" cy="3528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6000" y="1044000"/>
            <a:ext cx="2736000" cy="21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062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M1-M3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1332000"/>
            <a:ext cx="25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第一步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000" y="1584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效率工具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000" y="1908000"/>
            <a:ext cx="252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000" y="2015999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私域CRM：纸质病历数字化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" y="2411999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AI诊室：节省50%问诊时间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000" y="2808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医生平均节省2小时/天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000" y="3204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相当于多接诊6名患者/天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000" y="3600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快速建立使用习惯与依赖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1999" y="1044000"/>
            <a:ext cx="2736000" cy="3528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11999" y="1044000"/>
            <a:ext cx="2736000" cy="216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999" y="1062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M4-M6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999" y="1332000"/>
            <a:ext cx="25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第二步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999" y="1584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建立依赖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999" y="1908000"/>
            <a:ext cx="252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999" y="2015999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AI学习医生医案成为数字副手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999" y="2411999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平台成为医生的数据银行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999" y="2808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首年积累5000+专属医案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999" y="3204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AI模型越用越懂医生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999" y="3600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数据资产无法迁移转移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8000" y="1044000"/>
            <a:ext cx="2736000" cy="3528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28000" y="1044000"/>
            <a:ext cx="2736000" cy="216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0000" y="1062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M7-M12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0000" y="1332000"/>
            <a:ext cx="25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</a:rPr>
              <a:t>第三步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000" y="1584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信任变现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0000" y="1908000"/>
            <a:ext cx="252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0000" y="2015999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个人线上商城：医生品牌背书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411999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精标药房：出口级可溯源药材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0000" y="2808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商城GMV目标：单医生年均36万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0000" y="3204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医嘱转化率预估65%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0000" y="3600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平台年收入：单医生3.6万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48000" y="252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999" y="252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14800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1999" y="360000"/>
            <a:ext cx="43200" cy="432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8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3C34"/>
                </a:solidFill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核心优势：重构"流量"为"信任"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000" y="612000"/>
            <a:ext cx="846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720000"/>
            <a:ext cx="82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我们的竞争优势不是技术领先，而是商业模式的结构性优势——信任无法被复制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000" y="1044000"/>
            <a:ext cx="2736000" cy="3528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6000" y="1152000"/>
            <a:ext cx="273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C9A84C"/>
                </a:solidFill>
              </a:rPr>
              <a:t>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1835999"/>
            <a:ext cx="273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vs 竞品7.4%营收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4000" y="2088000"/>
            <a:ext cx="252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2196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零边际获客成本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000" y="2520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传统B2C：CAC高达营收7.4%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000" y="2880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我们：跳过购买流量和培养信任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000" y="3240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本质：迁移已存在的高价值私域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000" y="3600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竞争对手需18-24个月建立信任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000" y="3960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我们Day1即拥有医生的信任背书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1999" y="1044000"/>
            <a:ext cx="2736000" cy="3528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1999" y="1152000"/>
            <a:ext cx="273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2ECC71"/>
                </a:solidFill>
              </a:rPr>
              <a:t>65%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1999" y="1835999"/>
            <a:ext cx="273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医嘱转化率预估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0000" y="2088000"/>
            <a:ext cx="252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0000" y="2196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高转化·高LTV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0000" y="2520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B2C路径：曝光→比价→购买（3-5%）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0000" y="2880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我们路径：信任→医嘱→购买（65%）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0000" y="3240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核心：医嘱是终极购买理由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0000" y="3600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年人均消费：12,000元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0000" y="3960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LTV是行业平均的8-10倍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8000" y="1044000"/>
            <a:ext cx="2736000" cy="3528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28000" y="1152000"/>
            <a:ext cx="273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39C12"/>
                </a:solidFill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8000" y="1835999"/>
            <a:ext cx="273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精标药房溯源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36000" y="2088000"/>
            <a:ext cx="252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000" y="2196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供应链护城河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000" y="2520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出口级质检标准，超越国标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000" y="2880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全程溯源码体系，来源透明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000" y="3240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与顶级药材产地直采合作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000" y="3600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药材品质强化医生信任背书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000" y="3960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高品质=高溢价=高毛利（65%+）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14800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1999" y="360000"/>
            <a:ext cx="43200" cy="432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8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3C34"/>
                </a:solidFill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市场机遇：精准切入黄金赛道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000" y="612000"/>
            <a:ext cx="846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720000"/>
            <a:ext cx="82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大健康产业进入爆发期，食药同源赛道是增速最快、信任溢价最高的细分市场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000" y="1044000"/>
            <a:ext cx="2015999" cy="1620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6000" y="1116000"/>
            <a:ext cx="2015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84C"/>
                </a:solidFill>
              </a:rPr>
              <a:t>3200亿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1728000"/>
            <a:ext cx="2015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食药同源市场(2025)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1980000"/>
            <a:ext cx="187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消费者从被动治疗转向主动预防，市场快速扩张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56000" y="1044000"/>
            <a:ext cx="2015999" cy="1620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56000" y="1116000"/>
            <a:ext cx="2015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CC71"/>
                </a:solidFill>
              </a:rPr>
              <a:t>24.5%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6000" y="1728000"/>
            <a:ext cx="2015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中草药CAGR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8000" y="1980000"/>
            <a:ext cx="187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市场每3年翻一番，增量红利持续释放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16000" y="1044000"/>
            <a:ext cx="2015999" cy="1620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6000" y="1116000"/>
            <a:ext cx="2015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39C12"/>
                </a:solidFill>
              </a:rPr>
              <a:t>1000亿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6000" y="1728000"/>
            <a:ext cx="2015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养生茶市场(2028)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8000" y="1980000"/>
            <a:ext cx="187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食药同源产品最佳载体，复购率高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76000" y="1044000"/>
            <a:ext cx="2015999" cy="1620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76000" y="1116000"/>
            <a:ext cx="201599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84C"/>
                </a:solidFill>
              </a:rPr>
              <a:t>50亿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000" y="1728000"/>
            <a:ext cx="2015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中药配方颗粒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8000" y="1980000"/>
            <a:ext cx="187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便捷化是不可逆趋势，高毛利品类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6000" y="2808000"/>
            <a:ext cx="846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6000" y="2951999"/>
            <a:ext cx="2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目标用户画像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0000" y="2951999"/>
            <a:ext cx="2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政策利好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0000" y="2951999"/>
            <a:ext cx="2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</a:rPr>
              <a:t>竞争格局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000" y="32040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年龄：35-55岁，注重健康管理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6000" y="35280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城市：一二线城市为主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6000" y="38520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收入：年收入15万元以上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6000" y="41760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特征：信任专业医生建议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6000" y="45000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痛点：缺乏可信赖的健康顾问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0000" y="32040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✓ 国家中医药振兴计划2030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0000" y="35280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✓ 互联网医疗政策持续放开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0000" y="38520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✓ 医保数字化改革加速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0000" y="41760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✓ 中医药出海战略支持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0000" y="32040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★ 市场高度分散，CR5&lt;15%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0000" y="35280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★ 无主导性信任平台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0000" y="38520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★ 存在巨大整合机会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0000" y="41760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★ 先发优势窗口期：12-18个月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14800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1999" y="360000"/>
            <a:ext cx="43200" cy="432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8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3C34"/>
                </a:solidFill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竞品分析：差异化定位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000" y="612000"/>
            <a:ext cx="846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720000"/>
            <a:ext cx="82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我们不与现有平台正面竞争——我们开辟了一个全新的"信任赋能"赛道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000" y="1044000"/>
            <a:ext cx="1260000" cy="28800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1062000"/>
            <a:ext cx="11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维度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2000" y="1044000"/>
            <a:ext cx="1980000" cy="28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28000" y="1062000"/>
            <a:ext cx="190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我们（信任的杠杆）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8000" y="1044000"/>
            <a:ext cx="1440000" cy="288000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4000" y="1062000"/>
            <a:ext cx="136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平安好医生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84000" y="1044000"/>
            <a:ext cx="1440000" cy="288000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20000" y="1062000"/>
            <a:ext cx="136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京东健康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60000" y="1044000"/>
            <a:ext cx="1440000" cy="288000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6000" y="1062000"/>
            <a:ext cx="136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好大夫在线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6000" y="1368000"/>
            <a:ext cx="1260000" cy="432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000" y="1404000"/>
            <a:ext cx="11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商业模式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92000" y="1368000"/>
            <a:ext cx="1980000" cy="432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28000" y="1404000"/>
            <a:ext cx="19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9A84C"/>
                </a:solidFill>
              </a:rPr>
              <a:t>B2B2C信任赋能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8000" y="1368000"/>
            <a:ext cx="1440000" cy="432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4000" y="1404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B2C流量平台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84000" y="1368000"/>
            <a:ext cx="1440000" cy="432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20000" y="1404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B2C电商平台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60000" y="1368000"/>
            <a:ext cx="1440000" cy="432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6000" y="1404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B2C问诊平台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6000" y="1835999"/>
            <a:ext cx="1260000" cy="432000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2000" y="1872000"/>
            <a:ext cx="11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获客成本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92000" y="1835999"/>
            <a:ext cx="1980000" cy="432000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28000" y="1872000"/>
            <a:ext cx="19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零边际CAC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8000" y="1835999"/>
            <a:ext cx="1440000" cy="432000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4000" y="1872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高（广告）✗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84000" y="1835999"/>
            <a:ext cx="1440000" cy="432000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20000" y="1872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高（流量）✗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60000" y="1835999"/>
            <a:ext cx="1440000" cy="432000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96000" y="1872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高（广告）✗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6000" y="2304000"/>
            <a:ext cx="1260000" cy="432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2000" y="2340000"/>
            <a:ext cx="11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信任来源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92000" y="2304000"/>
            <a:ext cx="1980000" cy="432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28000" y="2340000"/>
            <a:ext cx="19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名医个人品牌 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08000" y="2304000"/>
            <a:ext cx="1440000" cy="432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4000" y="2340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平台品牌 △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84000" y="2304000"/>
            <a:ext cx="1440000" cy="432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20000" y="2340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平台品牌 △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60000" y="2304000"/>
            <a:ext cx="1440000" cy="432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96000" y="2340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医生评分 △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6000" y="2772000"/>
            <a:ext cx="1260000" cy="432000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2000" y="2808000"/>
            <a:ext cx="11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医生绑定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92000" y="2772000"/>
            <a:ext cx="1980000" cy="432000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28000" y="2808000"/>
            <a:ext cx="19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AI深度绑定 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08000" y="2772000"/>
            <a:ext cx="1440000" cy="432000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44000" y="2808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松散合作 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84000" y="2772000"/>
            <a:ext cx="1440000" cy="432000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20000" y="2808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松散合作 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60000" y="2772000"/>
            <a:ext cx="1440000" cy="432000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96000" y="2808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松散合作 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6000" y="3240000"/>
            <a:ext cx="1260000" cy="432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2000" y="3276000"/>
            <a:ext cx="11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供应链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92000" y="3240000"/>
            <a:ext cx="1980000" cy="432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28000" y="3276000"/>
            <a:ext cx="19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精标溯源 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08000" y="3240000"/>
            <a:ext cx="1440000" cy="432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44000" y="3276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标准化 △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84000" y="3240000"/>
            <a:ext cx="1440000" cy="432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20000" y="3276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标准化 △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60000" y="3240000"/>
            <a:ext cx="1440000" cy="432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96000" y="3276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无 ✗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6000" y="3708000"/>
            <a:ext cx="1260000" cy="432000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2000" y="3744000"/>
            <a:ext cx="11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毛利率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92000" y="3708000"/>
            <a:ext cx="1980000" cy="432000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728000" y="3744000"/>
            <a:ext cx="19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65%+ 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08000" y="3708000"/>
            <a:ext cx="1440000" cy="432000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44000" y="3744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35-45% △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184000" y="3708000"/>
            <a:ext cx="1440000" cy="432000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220000" y="3744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74C3C"/>
                </a:solidFill>
              </a:rPr>
              <a:t>25-35% ✗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660000" y="3708000"/>
            <a:ext cx="1440000" cy="432000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96000" y="3744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40-50% △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96000" y="4176000"/>
            <a:ext cx="1260000" cy="432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2000" y="4212000"/>
            <a:ext cx="118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核心壁垒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92000" y="4176000"/>
            <a:ext cx="1980000" cy="432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728000" y="4212000"/>
            <a:ext cx="190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9A84C"/>
                </a:solidFill>
              </a:rPr>
              <a:t>信任+数据双壁垒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708000" y="4176000"/>
            <a:ext cx="1440000" cy="432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744000" y="4212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品牌+资金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184000" y="4176000"/>
            <a:ext cx="1440000" cy="432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220000" y="4212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品牌+资金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60000" y="4176000"/>
            <a:ext cx="1440000" cy="432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696000" y="4212000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品牌+流量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6000" y="4680000"/>
            <a:ext cx="82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结论：我们是唯一以"医生信任资产"为核心的B2B2C平台，竞争对手无法在短期内复制此模式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14800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1999" y="360000"/>
            <a:ext cx="43200" cy="432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8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3C34"/>
                </a:solidFill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商业飞轮：信任驱动的LTV闭环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000" y="612000"/>
            <a:ext cx="846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720000"/>
            <a:ext cx="82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每一个环节都在强化信任，信任越强，LTV越高，飞轮越快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1999" y="1980000"/>
            <a:ext cx="2160000" cy="1152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1999" y="2088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信任飞轮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1999" y="2448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D1B2A"/>
                </a:solidFill>
              </a:rPr>
              <a:t>越转越快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1999" y="2700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B2A"/>
                </a:solidFill>
              </a:rPr>
              <a:t>LTV持续增长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000" y="1044000"/>
            <a:ext cx="2232000" cy="1368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000" y="1152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① 医生加入平台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000" y="1475999"/>
            <a:ext cx="2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获得AI诊室+CRM工具
效率提升50%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1044000"/>
            <a:ext cx="2232000" cy="1368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00" y="1152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② AI深度学习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2000" y="1475999"/>
            <a:ext cx="2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积累专属医案数据
形成数字副手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000" y="3060000"/>
            <a:ext cx="2232000" cy="1368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2000" y="3168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</a:rPr>
              <a:t>③ 信任商城上线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2000" y="3491999"/>
            <a:ext cx="2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医嘱直连购买
转化率65%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000" y="3060000"/>
            <a:ext cx="2232000" cy="1368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000" y="3168000"/>
            <a:ext cx="20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④ 患者复购增长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000" y="3491999"/>
            <a:ext cx="208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LTV年均12,000元
口碑裂变新患者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0000" y="162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84C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80000" y="162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84C"/>
                </a:solidFill>
              </a:rPr>
              <a:t>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80000" y="342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84C"/>
                </a:solidFill>
              </a:rPr>
              <a:t>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342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84C"/>
                </a:solidFill>
              </a:rPr>
              <a:t>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6000" y="4608000"/>
            <a:ext cx="846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6000" y="4716000"/>
            <a:ext cx="201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</a:rPr>
              <a:t>65%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6000" y="5004000"/>
            <a:ext cx="201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医嘱转化率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56000" y="4716000"/>
            <a:ext cx="201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</a:rPr>
              <a:t>12,000元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56000" y="5004000"/>
            <a:ext cx="201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年人均LTV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16000" y="4716000"/>
            <a:ext cx="201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</a:rPr>
              <a:t>8-10x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16000" y="5004000"/>
            <a:ext cx="201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vs行业平均LTV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6000" y="4716000"/>
            <a:ext cx="201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</a:rPr>
              <a:t>36万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76000" y="5004000"/>
            <a:ext cx="201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单医生年GMV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14800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1999" y="360000"/>
            <a:ext cx="43200" cy="432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8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3C34"/>
                </a:solidFill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财务模型：可预测的单元经济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000" y="612000"/>
            <a:ext cx="846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720000"/>
            <a:ext cx="82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基于保守假设的单元经济模型，展示清晰的盈利路径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000" y="1044000"/>
            <a:ext cx="2736000" cy="3528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116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单医生单元经济（年）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000" y="1440000"/>
            <a:ext cx="252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8000" y="1548000"/>
            <a:ext cx="2520000" cy="503999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000" y="1584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患者数量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1800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200名活跃患者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8000" y="2124000"/>
            <a:ext cx="2520000" cy="503999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2160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年人均消费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2376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¥12,000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000" y="2700000"/>
            <a:ext cx="2520000" cy="503999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2736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商城GMV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2951999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¥240万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000" y="3276000"/>
            <a:ext cx="2520000" cy="503999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000" y="3312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平台抽佣(15%)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3528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¥36万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000" y="3851999"/>
            <a:ext cx="2520000" cy="503999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000" y="3888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毛利率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4104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65%+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1999" y="1044000"/>
            <a:ext cx="2736000" cy="3528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999" y="1116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平台规模经济（3年）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999" y="1440000"/>
            <a:ext cx="252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83999" y="1548000"/>
            <a:ext cx="2520000" cy="503999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6000" y="1584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医生数量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6000" y="1800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200名签约医生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999" y="2124000"/>
            <a:ext cx="2520000" cy="503999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56000" y="2160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总GMV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6000" y="2376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¥4.8亿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999" y="2700000"/>
            <a:ext cx="2520000" cy="503999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56000" y="2736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平台年收入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56000" y="2951999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¥7,200万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999" y="3276000"/>
            <a:ext cx="2520000" cy="503999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56000" y="3312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净利润率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56000" y="3528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35%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999" y="3851999"/>
            <a:ext cx="2520000" cy="503999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56000" y="3888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净利润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56000" y="4104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¥2,520万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28000" y="1044000"/>
            <a:ext cx="2736000" cy="3528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0000" y="1116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</a:rPr>
              <a:t>融资与回报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0000" y="1440000"/>
            <a:ext cx="252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00000" y="1548000"/>
            <a:ext cx="2520000" cy="503999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2000" y="1584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本轮融资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2000" y="1800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Pre-A 500万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0000" y="2124000"/>
            <a:ext cx="2520000" cy="503999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72000" y="2160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估值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72000" y="2376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2,500万（5x）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0000" y="2700000"/>
            <a:ext cx="2520000" cy="503999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72000" y="2736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回本周期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72000" y="2951999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10个月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0000" y="3276000"/>
            <a:ext cx="2520000" cy="503999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72000" y="3312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A轮目标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72000" y="3528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5,000万估值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0000" y="3851999"/>
            <a:ext cx="2520000" cy="503999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72000" y="3888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IRR预期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72000" y="4104000"/>
            <a:ext cx="23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300%+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96000" y="4680000"/>
            <a:ext cx="846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6000" y="4752000"/>
            <a:ext cx="82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</a:rPr>
              <a:t>盈亏平衡点：签约50名医生时达成  |  首年目标：20名医生  |  三年目标：200名医生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14800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1999" y="360000"/>
            <a:ext cx="43200" cy="432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8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3C34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护城河：三重壁垒构建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000" y="612000"/>
            <a:ext cx="846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720000"/>
            <a:ext cx="82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我们的竞争壁垒不依赖资金，而是依赖时间积累——越早建立，越难被复制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000" y="1044000"/>
            <a:ext cx="2736000" cy="3528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6000" y="1044000"/>
            <a:ext cx="2736000" cy="18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080000"/>
            <a:ext cx="259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壁垒一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1296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</a:rPr>
              <a:t>资源壁垒（立即生效）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000" y="1620000"/>
            <a:ext cx="252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000" y="1728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顶尖中医师资源极度稀缺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000" y="2124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全国执业中医师约80万人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" y="2520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三甲医院主任医师仅约2万人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000" y="2916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我们目标签约其中TOP 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000" y="3311999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一旦签约，竞争对手无法挖角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1999" y="1044000"/>
            <a:ext cx="2736000" cy="3528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11999" y="1044000"/>
            <a:ext cx="2736000" cy="180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999" y="1080000"/>
            <a:ext cx="259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壁垒二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999" y="1296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数据壁垒（6个月建立）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999" y="1620000"/>
            <a:ext cx="252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999" y="1728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AI持续学习每位医生的医案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999" y="2124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专属模型越用越懂医生习惯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999" y="2520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数据资产归医生所有但存于平台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999" y="2916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迁移成本极高（数年积累）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999" y="3311999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形成"数字副手"强依赖关系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8000" y="1044000"/>
            <a:ext cx="2736000" cy="3528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28000" y="1044000"/>
            <a:ext cx="2736000" cy="180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0000" y="1080000"/>
            <a:ext cx="259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壁垒三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296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</a:rPr>
              <a:t>信任壁垒（12个月固化）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0000" y="1620000"/>
            <a:ext cx="252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0000" y="1728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患者信任绑定在医生个人品牌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000" y="2124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医生品牌与平台深度融合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000" y="2520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患者不会因平台切换而流失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000" y="2916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口碑裂变形成自增长飞轮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3311999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▸ 信任网络一旦形成无法复制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6000" y="4680000"/>
            <a:ext cx="82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</a:rPr>
              <a:t>综合评估：三重壁垒叠加，形成"时间+资源+信任"的复合护城河，竞争对手需3-5年才能追赶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5148000"/>
          </a:xfrm>
          <a:prstGeom prst="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1999" y="360000"/>
            <a:ext cx="43200" cy="432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8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3C34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</a:rPr>
              <a:t>执行计划：12个月里程碑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000" y="612000"/>
            <a:ext cx="846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720000"/>
            <a:ext cx="82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清晰的执行路径，每个阶段都有可量化的成功指标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000" y="1044000"/>
            <a:ext cx="1548000" cy="3600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6000" y="1044000"/>
            <a:ext cx="1548000" cy="18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1080000"/>
            <a:ext cx="1475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M1-M2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1296000"/>
            <a:ext cx="147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</a:rPr>
              <a:t>产品打磨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000" y="1584000"/>
            <a:ext cx="1368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000" y="1692000"/>
            <a:ext cx="14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完成AI诊室MVP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000" y="2232000"/>
            <a:ext cx="14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招募首批5名种子医生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" y="2772000"/>
            <a:ext cx="14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完成产品迭代反馈循环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000" y="3311999"/>
            <a:ext cx="14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建立基础CRM功能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88000" y="1044000"/>
            <a:ext cx="1548000" cy="3600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88000" y="1044000"/>
            <a:ext cx="1548000" cy="180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24000" y="1080000"/>
            <a:ext cx="1475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M3-M4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4000" y="1296000"/>
            <a:ext cx="147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C71"/>
                </a:solidFill>
              </a:rPr>
              <a:t>验证模型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60000" y="1584000"/>
            <a:ext cx="1368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60000" y="1692000"/>
            <a:ext cx="14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签约10名医生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60000" y="2232000"/>
            <a:ext cx="14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首批商城上线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60000" y="2772000"/>
            <a:ext cx="14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验证65%医嘱转化率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60000" y="3311999"/>
            <a:ext cx="14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收集用户反馈优化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80000" y="1044000"/>
            <a:ext cx="1548000" cy="3600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80000" y="1044000"/>
            <a:ext cx="1548000" cy="180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16000" y="1080000"/>
            <a:ext cx="1475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M5-M6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6000" y="1296000"/>
            <a:ext cx="147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39C12"/>
                </a:solidFill>
              </a:rPr>
              <a:t>规模复制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51999" y="1584000"/>
            <a:ext cx="1368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51999" y="1692000"/>
            <a:ext cx="14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签约20名医生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51999" y="2232000"/>
            <a:ext cx="14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月GMV突破100万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51999" y="2772000"/>
            <a:ext cx="14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精标药房供应链就绪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51999" y="3311999"/>
            <a:ext cx="14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完成Pre-A融资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72000" y="1044000"/>
            <a:ext cx="1548000" cy="3600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72000" y="1044000"/>
            <a:ext cx="1548000" cy="18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08000" y="1080000"/>
            <a:ext cx="1475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M7-M9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08000" y="1296000"/>
            <a:ext cx="147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</a:rPr>
              <a:t>加速扩张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44000" y="1584000"/>
            <a:ext cx="1368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44000" y="1692000"/>
            <a:ext cx="14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签约50名医生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44000" y="2232000"/>
            <a:ext cx="14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月GMV突破500万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44000" y="2772000"/>
            <a:ext cx="14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达到盈亏平衡点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44000" y="3311999"/>
            <a:ext cx="14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启动A轮融资准备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64000" y="1044000"/>
            <a:ext cx="1548000" cy="3600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64000" y="1044000"/>
            <a:ext cx="1548000" cy="180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00000" y="1080000"/>
            <a:ext cx="1475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M10-M12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00000" y="1296000"/>
            <a:ext cx="147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C71"/>
                </a:solidFill>
              </a:rPr>
              <a:t>生态建设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36000" y="1584000"/>
            <a:ext cx="1368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36000" y="1692000"/>
            <a:ext cx="14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签约100名医生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36000" y="2232000"/>
            <a:ext cx="14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年GMV突破1亿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36000" y="2772000"/>
            <a:ext cx="14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建立医生社区生态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6000" y="3311999"/>
            <a:ext cx="14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完成A轮融资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6000" y="4716000"/>
            <a:ext cx="8460000" cy="180000"/>
          </a:xfrm>
          <a:prstGeom prst="rect">
            <a:avLst/>
          </a:prstGeom>
          <a:solidFill>
            <a:srgbClr val="0F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96000" y="4716000"/>
            <a:ext cx="1548000" cy="18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2000" y="4734000"/>
            <a:ext cx="1475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M1-M2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88000" y="4716000"/>
            <a:ext cx="1548000" cy="180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24000" y="4734000"/>
            <a:ext cx="1475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M3-M4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80000" y="4716000"/>
            <a:ext cx="1548000" cy="180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16000" y="4734000"/>
            <a:ext cx="1475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M5-M6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72000" y="4716000"/>
            <a:ext cx="1548000" cy="18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08000" y="4734000"/>
            <a:ext cx="1475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M7-M9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64000" y="4716000"/>
            <a:ext cx="1548000" cy="180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00000" y="4734000"/>
            <a:ext cx="1475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M10-M12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4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3999"/>
            <a:ext cx="9144000" cy="14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540000"/>
            <a:ext cx="82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现在，是加入的最佳时机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000" y="1152000"/>
            <a:ext cx="82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A84C"/>
                </a:solidFill>
              </a:rPr>
              <a:t>先发优势窗口期只有12-18个月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0000" y="1548000"/>
            <a:ext cx="630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1800000"/>
            <a:ext cx="82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我们正在寻找：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0000" y="2124000"/>
            <a:ext cx="1800000" cy="1620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0000" y="2232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70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Pre-A轮战略投资人（500万）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0" y="2124000"/>
            <a:ext cx="1800000" cy="1620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000" y="2232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0" y="270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顶尖中医师合作伙伴（首批20名）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80000" y="2124000"/>
            <a:ext cx="1800000" cy="1620000"/>
          </a:xfrm>
          <a:prstGeom prst="rect">
            <a:avLst/>
          </a:prstGeom>
          <a:solidFill>
            <a:srgbClr val="16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0000" y="2232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0000" y="270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出口级药材供应商（精标认证）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40000" y="3960000"/>
            <a:ext cx="6300000" cy="25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000" y="4140000"/>
            <a:ext cx="82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84C"/>
                </a:solidFill>
              </a:rPr>
              <a:t>信任的杠杆  ·  中医AI平台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000" y="4500000"/>
            <a:ext cx="82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让每一位名医的信任，成为可持续增长的商业资产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000" y="5220000"/>
            <a:ext cx="27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联系方式：contact@tcm-ai.com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6000" y="5220000"/>
            <a:ext cx="27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官网：www.tcm-ai.com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6000" y="5220000"/>
            <a:ext cx="27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微信：TCM_AI_Platform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