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629400" y="457200"/>
            <a:ext cx="5943600" cy="5943600"/>
          </a:xfrm>
          <a:prstGeom prst="ellipse">
            <a:avLst/>
          </a:prstGeom>
          <a:solidFill>
            <a:srgbClr val="0F1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0" y="1005840"/>
            <a:ext cx="4389120" cy="4389120"/>
          </a:xfrm>
          <a:prstGeom prst="ellipse">
            <a:avLst/>
          </a:prstGeom>
          <a:solidFill>
            <a:srgbClr val="12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1645920"/>
            <a:ext cx="2743200" cy="2743200"/>
          </a:xfrm>
          <a:prstGeom prst="ellipse">
            <a:avLst/>
          </a:prstGeom>
          <a:solidFill>
            <a:srgbClr val="00C2F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926080" cy="34747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E27"/>
                </a:solidFill>
              </a:rPr>
              <a:t>AI-Native 出版协作平台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编得好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C2FF"/>
                </a:solidFill>
              </a:rPr>
              <a:t>全国出版编校智能协作网络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重塑出版行业生产关系  · 打造亿级垂直数据资产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4572000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251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</a:rPr>
              <a:t>项目立项建议书  ·  投资人专版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371600"/>
            <a:ext cx="3200400" cy="1188720"/>
          </a:xfrm>
          <a:prstGeom prst="rect">
            <a:avLst/>
          </a:prstGeom>
          <a:solidFill>
            <a:srgbClr val="141E4A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41732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5C518"/>
                </a:solidFill>
              </a:rPr>
              <a:t>10×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0848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FF"/>
                </a:solidFill>
              </a:rPr>
              <a:t>交易效率提升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926080"/>
            <a:ext cx="3200400" cy="1188720"/>
          </a:xfrm>
          <a:prstGeom prst="rect">
            <a:avLst/>
          </a:prstGeom>
          <a:solidFill>
            <a:srgbClr val="141E4A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9718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5C518"/>
                </a:solidFill>
              </a:rPr>
              <a:t>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63931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FF"/>
                </a:solidFill>
              </a:rPr>
              <a:t>出版周期缩短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4480560"/>
            <a:ext cx="3200400" cy="1188720"/>
          </a:xfrm>
          <a:prstGeom prst="rect">
            <a:avLst/>
          </a:prstGeom>
          <a:solidFill>
            <a:srgbClr val="141E4A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45262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5C518"/>
                </a:solidFill>
              </a:rPr>
              <a:t>亿级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51937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FF"/>
                </a:solidFill>
              </a:rPr>
              <a:t>数据资产估值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94960" cy="1371600"/>
          </a:xfrm>
          <a:prstGeom prst="rect">
            <a:avLst/>
          </a:prstGeom>
          <a:solidFill>
            <a:srgbClr val="141E4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640080" cy="13716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600200"/>
            <a:ext cx="6035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E27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行业现状与痛点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933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</a:rPr>
              <a:t>出版行业的三大核心挑战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5394960" cy="1371600"/>
          </a:xfrm>
          <a:prstGeom prst="rect">
            <a:avLst/>
          </a:prstGeom>
          <a:solidFill>
            <a:srgbClr val="141E4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640080" cy="13716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246120"/>
            <a:ext cx="6035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E27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1089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核心解决方案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3931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</a:rPr>
              <a:t>AI 三大智能体群重构生产关系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72000"/>
            <a:ext cx="5394960" cy="1371600"/>
          </a:xfrm>
          <a:prstGeom prst="rect">
            <a:avLst/>
          </a:prstGeom>
          <a:solidFill>
            <a:srgbClr val="141E4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640080" cy="13716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892040"/>
            <a:ext cx="6035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E27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7548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平台功能全景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28523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</a:rPr>
              <a:t>四大 AI 引擎逐一击破瓶颈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280160"/>
            <a:ext cx="5394960" cy="1371600"/>
          </a:xfrm>
          <a:prstGeom prst="rect">
            <a:avLst/>
          </a:prstGeom>
          <a:solidFill>
            <a:srgbClr val="141E4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280160"/>
            <a:ext cx="640080" cy="13716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1600200"/>
            <a:ext cx="6035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E27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463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实施路线图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9933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</a:rPr>
              <a:t>三阶段 12 个月落地计划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926080"/>
            <a:ext cx="5394960" cy="1371600"/>
          </a:xfrm>
          <a:prstGeom prst="rect">
            <a:avLst/>
          </a:prstGeom>
          <a:solidFill>
            <a:srgbClr val="141E4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926080"/>
            <a:ext cx="640080" cy="13716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246120"/>
            <a:ext cx="6035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E27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1089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预期效益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63931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</a:rPr>
              <a:t>社会价值 + 经济回报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572000"/>
            <a:ext cx="5394960" cy="1371600"/>
          </a:xfrm>
          <a:prstGeom prst="rect">
            <a:avLst/>
          </a:prstGeom>
          <a:solidFill>
            <a:srgbClr val="141E4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572000"/>
            <a:ext cx="640080" cy="13716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4892040"/>
            <a:ext cx="6035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E27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7548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投资亮点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528523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</a:rPr>
              <a:t>为什么现在，为什么我们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" cy="3200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行业现状与痛点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11247120" cy="27432"/>
          </a:xfrm>
          <a:prstGeom prst="rect">
            <a:avLst/>
          </a:prstGeom>
          <a:solidFill>
            <a:srgbClr val="14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BB"/>
                </a:solidFill>
              </a:rPr>
              <a:t>出版行业正面临三大结构性挑战，传统模式已无法应对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57600" cy="5029200"/>
          </a:xfrm>
          <a:prstGeom prst="rect">
            <a:avLst/>
          </a:prstGeom>
          <a:solidFill>
            <a:srgbClr val="141E4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365760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645920"/>
            <a:ext cx="640080" cy="640080"/>
          </a:xfrm>
          <a:prstGeom prst="ellipse">
            <a:avLst/>
          </a:prstGeom>
          <a:solidFill>
            <a:srgbClr val="1A2555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45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6B6B"/>
                </a:solidFill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供需信息不对称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6B"/>
                </a:solidFill>
              </a:rPr>
              <a:t>编校资源分布不均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00400"/>
            <a:ext cx="320040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3756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传统平台靠人工搜索，效率低下
跨地域、跨领域精准撮合几乎不可能
优质编辑长期处于信息孤岛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657600" cy="5029200"/>
          </a:xfrm>
          <a:prstGeom prst="rect">
            <a:avLst/>
          </a:prstGeom>
          <a:solidFill>
            <a:srgbClr val="141E4A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371600"/>
            <a:ext cx="3657600" cy="7315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60" y="1645920"/>
            <a:ext cx="640080" cy="640080"/>
          </a:xfrm>
          <a:prstGeom prst="ellipse">
            <a:avLst/>
          </a:prstGeom>
          <a:solidFill>
            <a:srgbClr val="1A2555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645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A500"/>
                </a:solidFill>
              </a:rPr>
              <a:t>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2860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效率低 · 流程繁琐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788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500"/>
                </a:solidFill>
              </a:rPr>
              <a:t>传统接单方式严重落后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200400"/>
            <a:ext cx="3200400" cy="274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33756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依靠QQ/微信发包，缺乏工具支撑
合同、发票、个税手动处理耗时耗力
沟通成本高，出版周期难以压缩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371600"/>
            <a:ext cx="3657600" cy="5029200"/>
          </a:xfrm>
          <a:prstGeom prst="rect">
            <a:avLst/>
          </a:prstGeom>
          <a:solidFill>
            <a:srgbClr val="141E4A"/>
          </a:solidFill>
          <a:ln w="19050">
            <a:solidFill>
              <a:srgbClr val="FF4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371600"/>
            <a:ext cx="3657600" cy="73152"/>
          </a:xfrm>
          <a:prstGeom prst="rect">
            <a:avLst/>
          </a:prstGeom>
          <a:solidFill>
            <a:srgbClr val="FF4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12480" y="1645920"/>
            <a:ext cx="640080" cy="640080"/>
          </a:xfrm>
          <a:prstGeom prst="ellipse">
            <a:avLst/>
          </a:prstGeom>
          <a:solidFill>
            <a:srgbClr val="1A2555"/>
          </a:solidFill>
          <a:ln w="19050">
            <a:solidFill>
              <a:srgbClr val="FF4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1645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4DA6"/>
                </a:solidFill>
              </a:rPr>
              <a:t>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2860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质量评价缺失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788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DA6"/>
                </a:solidFill>
              </a:rPr>
              <a:t>信用体系空白，劣币驱逐良币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3200400"/>
            <a:ext cx="3200400" cy="27432"/>
          </a:xfrm>
          <a:prstGeom prst="rect">
            <a:avLst/>
          </a:prstGeom>
          <a:solidFill>
            <a:srgbClr val="FF4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33756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评价主观性强，难以服众
无法客观量化编辑贡献与质量
优秀编辑无法获得应有回报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solidFill>
            <a:srgbClr val="1A1010"/>
          </a:solidFill>
          <a:ln w="1016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4190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9A9A"/>
                </a:solidFill>
              </a:rPr>
              <a:t>💡  这三大痛点，正是「编得好」AI 平台的核心突破口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" cy="3200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核心解决方案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11247120" cy="27432"/>
          </a:xfrm>
          <a:prstGeom prst="rect">
            <a:avLst/>
          </a:prstGeom>
          <a:solidFill>
            <a:srgbClr val="14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BB"/>
                </a:solidFill>
              </a:rPr>
              <a:t>「1+3+N」智能体系 — AI 经纪人 + AI 助理 + AI 审计员，重构出版生产关系</a:t>
            </a:r>
          </a:p>
        </p:txBody>
      </p:sp>
      <p:sp>
        <p:nvSpPr>
          <p:cNvPr id="8" name="Oval 7"/>
          <p:cNvSpPr/>
          <p:nvPr/>
        </p:nvSpPr>
        <p:spPr>
          <a:xfrm>
            <a:off x="5276088" y="3017520"/>
            <a:ext cx="1645920" cy="1645920"/>
          </a:xfrm>
          <a:prstGeom prst="ellipse">
            <a:avLst/>
          </a:prstGeom>
          <a:solidFill>
            <a:srgbClr val="0A1435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58968" y="3200400"/>
            <a:ext cx="1280160" cy="128016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58968" y="333756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E27"/>
                </a:solidFill>
              </a:rPr>
              <a:t>多模型
调度网关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371600"/>
            <a:ext cx="3200400" cy="2560320"/>
          </a:xfrm>
          <a:prstGeom prst="rect">
            <a:avLst/>
          </a:prstGeom>
          <a:solidFill>
            <a:srgbClr val="141E4A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371600"/>
            <a:ext cx="3200400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4813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发布侧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18745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出版社的
「项目指挥官」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2377440"/>
            <a:ext cx="2743200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468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▸  零表单意图识别发包
▸  需求拆解 &amp; 预算风控
▸  智能档期调度
▸  语义共鸣撮合引擎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029200"/>
            <a:ext cx="3200400" cy="2560320"/>
          </a:xfrm>
          <a:prstGeom prst="rect">
            <a:avLst/>
          </a:prstGeom>
          <a:solidFill>
            <a:srgbClr val="141E4A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5029200"/>
            <a:ext cx="3200400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1389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596"/>
                </a:solidFill>
              </a:rPr>
              <a:t>生产侧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5321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编校者的
「超级副驾驶」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6035040"/>
            <a:ext cx="2743200" cy="274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61264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▸  AI Copilot 全程伴随
▸  智能审稿与逻辑体检
▸  极速阅读与总结
▸  稿件透视问答 ChatDOC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3200400"/>
            <a:ext cx="3200400" cy="2560320"/>
          </a:xfrm>
          <a:prstGeom prst="rect">
            <a:avLst/>
          </a:prstGeom>
          <a:solidFill>
            <a:srgbClr val="141E4A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0" y="3200400"/>
            <a:ext cx="3200400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33101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B2FFF"/>
                </a:solidFill>
              </a:rPr>
              <a:t>管理侧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7033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平台的
「公正审计员」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23960" y="4206240"/>
            <a:ext cx="2743200" cy="2743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60" y="4297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▸  全样本数据审计
▸  价值导向动态结算
▸  数字信用档案
▸  可信职业画像系统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2606040"/>
            <a:ext cx="164592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0" y="5486400"/>
            <a:ext cx="1645920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3840480"/>
            <a:ext cx="457200" cy="36576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solidFill>
            <a:srgbClr val="0A1835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4190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2FF"/>
                </a:solidFill>
              </a:rPr>
              <a:t>🔒  混合部署策略：公有云 API 降本 + 本地私有化部署，敏感数据绝不出域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" cy="3200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平台功能全景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11247120" cy="27432"/>
          </a:xfrm>
          <a:prstGeom prst="rect">
            <a:avLst/>
          </a:prstGeom>
          <a:solidFill>
            <a:srgbClr val="14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BB"/>
                </a:solidFill>
              </a:rPr>
              <a:t>四大 AI 引擎，逐一击破传统出版瓶颈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486400" cy="2377440"/>
          </a:xfrm>
          <a:prstGeom prst="rect">
            <a:avLst/>
          </a:prstGeom>
          <a:solidFill>
            <a:srgbClr val="141E4A"/>
          </a:solidFill>
          <a:ln w="1524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64008" cy="2377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2FF"/>
                </a:solidFill>
              </a:rPr>
              <a:t>语义共鸣撮合引擎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9BB"/>
                </a:solidFill>
              </a:rPr>
              <a:t>从「搜人」到「算人」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76272"/>
            <a:ext cx="50292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67712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FF"/>
                </a:solidFill>
              </a:rPr>
              <a:t>✦ 深度语义分析稿件学科谱系   ✦ 亿级人才库特征向量匹配
   ✦ 跨域冷启动推荐稀缺专家
   ✦ 动态档期实时调度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486400" cy="2377440"/>
          </a:xfrm>
          <a:prstGeom prst="rect">
            <a:avLst/>
          </a:prstGeom>
          <a:solidFill>
            <a:srgbClr val="141E4A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64008" cy="2377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云端 AI 协同工作台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9BB"/>
                </a:solidFill>
              </a:rPr>
              <a:t>Zero-Install 沉浸式编辑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176272"/>
            <a:ext cx="5029200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267712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FF"/>
                </a:solidFill>
              </a:rPr>
              <a:t>✦ 完美解析 Word/PDF/LaTeX   ✦ AI Copilot 逻辑体检 &amp; 纠错
   ✦ 百万字 1 分钟生成大纲
   ✦ ChatDOC 跨章节问答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31920"/>
            <a:ext cx="5486400" cy="2377440"/>
          </a:xfrm>
          <a:prstGeom prst="rect">
            <a:avLst/>
          </a:prstGeom>
          <a:solidFill>
            <a:srgbClr val="141E4A"/>
          </a:solidFill>
          <a:ln w="1524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931920"/>
            <a:ext cx="64008" cy="23774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23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596"/>
                </a:solidFill>
              </a:rPr>
              <a:t>数字信用审计网络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80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9BB"/>
                </a:solidFill>
              </a:rPr>
              <a:t>全样本数据审计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28032"/>
            <a:ext cx="5029200" cy="274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919472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FF"/>
                </a:solidFill>
              </a:rPr>
              <a:t>✦ 记录每一次修改的价值   ✦ 有效修改率客观量化
   ✦ 价值导向动态结算模型
   ✦ 加密不可篡改信用档案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931920"/>
            <a:ext cx="5486400" cy="2377440"/>
          </a:xfrm>
          <a:prstGeom prst="rect">
            <a:avLst/>
          </a:prstGeom>
          <a:solidFill>
            <a:srgbClr val="141E4A"/>
          </a:solidFill>
          <a:ln w="1524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931920"/>
            <a:ext cx="64008" cy="23774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023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B2FFF"/>
                </a:solidFill>
              </a:rPr>
              <a:t>AI 赋能学院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480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9BB"/>
                </a:solidFill>
              </a:rPr>
              <a:t>降低门槛，扩大人才供给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828032"/>
            <a:ext cx="5029200" cy="2743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919472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FF"/>
                </a:solidFill>
              </a:rPr>
              <a:t>✦ 新手导航教学模式   ✦ AI 导师分步提示规范
   ✦ 脱敏真实稿件模拟演练
   ✦ 缩短成才周期 40%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" cy="3200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实施路线图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11247120" cy="27432"/>
          </a:xfrm>
          <a:prstGeom prst="rect">
            <a:avLst/>
          </a:prstGeom>
          <a:solidFill>
            <a:srgbClr val="14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BB"/>
                </a:solidFill>
              </a:rPr>
              <a:t>三阶段 · 12 个月 · 从智能基座到全国生态扩展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566160"/>
            <a:ext cx="11247120" cy="73152"/>
          </a:xfrm>
          <a:prstGeom prst="rect">
            <a:avLst/>
          </a:prstGeom>
          <a:solidFill>
            <a:srgbClr val="14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71700" y="3442716"/>
            <a:ext cx="320040" cy="32004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20739" y="3442716"/>
            <a:ext cx="320040" cy="32004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69780" y="3442716"/>
            <a:ext cx="320040" cy="320040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3657600" cy="2011680"/>
          </a:xfrm>
          <a:prstGeom prst="rect">
            <a:avLst/>
          </a:prstGeom>
          <a:solidFill>
            <a:srgbClr val="141E4A"/>
          </a:solidFill>
          <a:ln w="1524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371600"/>
            <a:ext cx="365760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463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Phase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8288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智能基座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331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</a:rPr>
              <a:t>0 - 3 个月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3657600" cy="2651760"/>
          </a:xfrm>
          <a:prstGeom prst="rect">
            <a:avLst/>
          </a:prstGeom>
          <a:solidFill>
            <a:srgbClr val="101838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192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FF"/>
                </a:solidFill>
              </a:rPr>
              <a:t>▸  完成平台基础架构搭建
▸  上线 AI 预审工具（敏感词/校对）
▸  建立编校人才画像库
▸  稿件语义指纹算法研发
▸  内部试用，沉淀数据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371600"/>
            <a:ext cx="3657600" cy="2011680"/>
          </a:xfrm>
          <a:prstGeom prst="rect">
            <a:avLst/>
          </a:prstGeom>
          <a:solidFill>
            <a:srgbClr val="141E4A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371600"/>
            <a:ext cx="3657600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463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18288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人机协同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331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</a:rPr>
              <a:t>4 - 6 个月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840480"/>
            <a:ext cx="3657600" cy="2651760"/>
          </a:xfrm>
          <a:prstGeom prst="rect">
            <a:avLst/>
          </a:prstGeom>
          <a:solidFill>
            <a:srgbClr val="101838"/>
          </a:soli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93192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FF"/>
                </a:solidFill>
              </a:rPr>
              <a:t>▸  推出 AI Copilot 工作台
▸  选取 3-5 家头部出版社试点
▸  跑通「发包-AI辅助-验收」闭环
▸  数字信用审计系统上线
▸  收集反馈，快速迭代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371600"/>
            <a:ext cx="3657600" cy="2011680"/>
          </a:xfrm>
          <a:prstGeom prst="rect">
            <a:avLst/>
          </a:prstGeom>
          <a:solidFill>
            <a:srgbClr val="141E4A"/>
          </a:solidFill>
          <a:ln w="1524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371600"/>
            <a:ext cx="3657600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1463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Phase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18288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生态扩展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331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</a:rPr>
              <a:t>7 - 12 个月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840480"/>
            <a:ext cx="3657600" cy="2651760"/>
          </a:xfrm>
          <a:prstGeom prst="rect">
            <a:avLst/>
          </a:prstGeom>
          <a:solidFill>
            <a:srgbClr val="101838"/>
          </a:solidFill>
          <a:ln w="1016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93192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FF"/>
                </a:solidFill>
              </a:rPr>
              <a:t>▸  开放 API 接入第三方工具
▸  集成主流大模型能力
▸  沉淀垂直领域知识库
▸  全面推广至全国出版单位
▸  构建亿级数据资产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" cy="3200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预期效益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11247120" cy="27432"/>
          </a:xfrm>
          <a:prstGeom prst="rect">
            <a:avLst/>
          </a:prstGeom>
          <a:solidFill>
            <a:srgbClr val="14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BB"/>
                </a:solidFill>
              </a:rPr>
              <a:t>社会价值 × 经济回报 × 数据资产 — 三维价值体系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743200" cy="1645920"/>
          </a:xfrm>
          <a:prstGeom prst="rect">
            <a:avLst/>
          </a:prstGeom>
          <a:solidFill>
            <a:srgbClr val="141E4A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74320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2FF"/>
                </a:solidFill>
              </a:rPr>
              <a:t>万分之一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</a:rPr>
              <a:t>编校差错率目标
AI初筛+人工复核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743200" cy="1645920"/>
          </a:xfrm>
          <a:prstGeom prst="rect">
            <a:avLst/>
          </a:prstGeom>
          <a:solidFill>
            <a:srgbClr val="141E4A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371600"/>
            <a:ext cx="2743200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463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C518"/>
                </a:solidFill>
              </a:rPr>
              <a:t>35%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</a:rPr>
              <a:t>出版周期缩短
AI承担60%重复工作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743200" cy="1645920"/>
          </a:xfrm>
          <a:prstGeom prst="rect">
            <a:avLst/>
          </a:prstGeom>
          <a:solidFill>
            <a:srgbClr val="141E4A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2743200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463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E596"/>
                </a:solidFill>
              </a:rPr>
              <a:t>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</a:rPr>
              <a:t>人才成才周期缩短
AI导师赋能新编辑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371600"/>
            <a:ext cx="2743200" cy="1645920"/>
          </a:xfrm>
          <a:prstGeom prst="rect">
            <a:avLst/>
          </a:prstGeom>
          <a:solidFill>
            <a:srgbClr val="141E4A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371600"/>
            <a:ext cx="2743200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463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B2FFF"/>
                </a:solidFill>
              </a:rPr>
              <a:t>10×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</a:rPr>
              <a:t>交易效率提升
意图驱动智能结算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00400"/>
            <a:ext cx="5486400" cy="3383280"/>
          </a:xfrm>
          <a:prstGeom prst="rect">
            <a:avLst/>
          </a:prstGeom>
          <a:solidFill>
            <a:srgbClr val="141E4A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200400"/>
            <a:ext cx="5486400" cy="4572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2186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0E27"/>
                </a:solidFill>
              </a:rPr>
              <a:t>社会效益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749039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✦  质量提升：差错率降至万分之一以下
✦  人才培育：AI导师缩短成才周期40%
✦  就业促进：降低门槛，赋能高校学生、退休教师
✦  行业规范：AI定义「好质量」，标准化非标服务
✦  资源协同：全省编校力量智能调度，削峰填谷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200400"/>
            <a:ext cx="5577840" cy="3383280"/>
          </a:xfrm>
          <a:prstGeom prst="rect">
            <a:avLst/>
          </a:prstGeom>
          <a:solidFill>
            <a:srgbClr val="141E4A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200400"/>
            <a:ext cx="5577840" cy="4572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2186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0E27"/>
                </a:solidFill>
              </a:rPr>
              <a:t>经济效益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749039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✦  降本增效：AI承担60%重复工作，周期缩短35%
✦  多元盈利：中介费 + AI工具订阅 + 增值服务
✦  数据资产：汇聚高质量语料，构建垂直知识库
✦  估值目标：不仅是5000万，目标亿级行业估值
✦  规模效应：全国推广后，网络效应指数级增长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" cy="3200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投资亮点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11247120" cy="27432"/>
          </a:xfrm>
          <a:prstGeom prst="rect">
            <a:avLst/>
          </a:prstGeom>
          <a:solidFill>
            <a:srgbClr val="14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BB"/>
                </a:solidFill>
              </a:rPr>
              <a:t>为什么是现在？为什么是我们？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657600" cy="2194560"/>
          </a:xfrm>
          <a:prstGeom prst="rect">
            <a:avLst/>
          </a:prstGeom>
          <a:solidFill>
            <a:srgbClr val="141E4A"/>
          </a:solidFill>
          <a:ln w="1524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365760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89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2FF"/>
                </a:solidFill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173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2FF"/>
                </a:solidFill>
              </a:rPr>
              <a:t>蓝海赛道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74520"/>
            <a:ext cx="32004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出版编校是万亿级文化产业的核心环节，AI 渗透率几乎为零，先发优势极为显著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657600" cy="2194560"/>
          </a:xfrm>
          <a:prstGeom prst="rect">
            <a:avLst/>
          </a:prstGeom>
          <a:solidFill>
            <a:srgbClr val="141E4A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3657600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389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C518"/>
                </a:solidFill>
              </a:rPr>
              <a:t>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4173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技术壁垒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1874520"/>
            <a:ext cx="3200400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语义指纹算法 + 垂直知识库 + 数字信用体系，三重护城河，难以复制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280160"/>
            <a:ext cx="3657600" cy="2194560"/>
          </a:xfrm>
          <a:prstGeom prst="rect">
            <a:avLst/>
          </a:prstGeom>
          <a:solidFill>
            <a:srgbClr val="141E4A"/>
          </a:solidFill>
          <a:ln w="1524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280160"/>
            <a:ext cx="3657600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389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E596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14173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596"/>
                </a:solidFill>
              </a:rPr>
              <a:t>数据飞轮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1874520"/>
            <a:ext cx="3200400" cy="274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每一次编校交互都在沉淀高质量语料，数据资产随规模指数级增长，形成强大壁垒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49039"/>
            <a:ext cx="3657600" cy="2194560"/>
          </a:xfrm>
          <a:prstGeom prst="rect">
            <a:avLst/>
          </a:prstGeom>
          <a:solidFill>
            <a:srgbClr val="141E4A"/>
          </a:solidFill>
          <a:ln w="1524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749039"/>
            <a:ext cx="3657600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85876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7B2FFF"/>
                </a:solidFill>
              </a:rPr>
              <a:t>🏛️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886199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B2FFF"/>
                </a:solidFill>
              </a:rPr>
              <a:t>政策顺风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343399"/>
            <a:ext cx="3200400" cy="2743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434839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国家大力推进出版业数字化转型，国产大模型政策支持，自主可控战略高度契合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3749039"/>
            <a:ext cx="3657600" cy="2194560"/>
          </a:xfrm>
          <a:prstGeom prst="rect">
            <a:avLst/>
          </a:prstGeom>
          <a:solidFill>
            <a:srgbClr val="141E4A"/>
          </a:solidFill>
          <a:ln w="1524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3749039"/>
            <a:ext cx="365760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385876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2FF"/>
                </a:solidFill>
              </a:rPr>
              <a:t>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3886199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2FF"/>
                </a:solidFill>
              </a:rPr>
              <a:t>网络效应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4343399"/>
            <a:ext cx="32004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4434839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平台价值随用户增长而增长，出版社越多→编辑越多→数据越好→匹配越精准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3749039"/>
            <a:ext cx="3657600" cy="2194560"/>
          </a:xfrm>
          <a:prstGeom prst="rect">
            <a:avLst/>
          </a:prstGeom>
          <a:solidFill>
            <a:srgbClr val="141E4A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3749039"/>
            <a:ext cx="3657600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385876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C518"/>
                </a:solidFill>
              </a:rPr>
              <a:t>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3886199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多元变现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66760" y="4343399"/>
            <a:ext cx="3200400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60" y="4434839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SaaS订阅 + 交易佣金 + 数据服务 + API授权，多条盈利路径，抗风险能力强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0C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0"/>
            <a:ext cx="3657600" cy="3657600"/>
          </a:xfrm>
          <a:prstGeom prst="ellipse">
            <a:avLst/>
          </a:prstGeom>
          <a:solidFill>
            <a:srgbClr val="0C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编得好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4688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C2FF"/>
                </a:solidFill>
              </a:rPr>
              <a:t>AI-Native 出版编校协作平台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3154680"/>
            <a:ext cx="4114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32918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5C518"/>
                </a:solidFill>
              </a:rPr>
              <a:t>不是修补，而是基因重组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4023360"/>
            <a:ext cx="1920240" cy="594360"/>
          </a:xfrm>
          <a:prstGeom prst="rect">
            <a:avLst/>
          </a:prstGeom>
          <a:solidFill>
            <a:srgbClr val="141E4A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4041648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2FF"/>
                </a:solidFill>
              </a:rPr>
              <a:t>应用先行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4023360"/>
            <a:ext cx="1920240" cy="594360"/>
          </a:xfrm>
          <a:prstGeom prst="rect">
            <a:avLst/>
          </a:prstGeom>
          <a:solidFill>
            <a:srgbClr val="141E4A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4041648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2FF"/>
                </a:solidFill>
              </a:rPr>
              <a:t>自主可控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023360"/>
            <a:ext cx="1920240" cy="594360"/>
          </a:xfrm>
          <a:prstGeom prst="rect">
            <a:avLst/>
          </a:prstGeom>
          <a:solidFill>
            <a:srgbClr val="141E4A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041648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2FF"/>
                </a:solidFill>
              </a:rPr>
              <a:t>数据为王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4023360"/>
            <a:ext cx="1920240" cy="594360"/>
          </a:xfrm>
          <a:prstGeom prst="rect">
            <a:avLst/>
          </a:prstGeom>
          <a:solidFill>
            <a:srgbClr val="141E4A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4041648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2FF"/>
                </a:solidFill>
              </a:rPr>
              <a:t>敏捷迭代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4846320"/>
            <a:ext cx="5943600" cy="8229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4892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E27"/>
                </a:solidFill>
              </a:rPr>
              <a:t>期待与您共同开创出版行业的 AI 新纪元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BB"/>
                </a:solidFill>
              </a:rPr>
              <a:t>立足山东  ·  辐射全国  ·  引领出版行业从「人力密集型」向「数智协同型」跃迁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